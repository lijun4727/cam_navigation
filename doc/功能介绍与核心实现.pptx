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14.png"/><Relationship Id="rId6" Type="http://schemas.openxmlformats.org/officeDocument/2006/relationships/tags" Target="../tags/tag5.xml"/><Relationship Id="rId5" Type="http://schemas.openxmlformats.org/officeDocument/2006/relationships/image" Target="../media/image13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医学</a:t>
            </a:r>
            <a:r>
              <a:rPr lang="en-US" altLang="zh-CN"/>
              <a:t>AR</a:t>
            </a:r>
            <a:r>
              <a:rPr lang="zh-CN" altLang="en-US"/>
              <a:t>导航</a:t>
            </a:r>
            <a:r>
              <a:rPr lang="zh-CN" altLang="en-US"/>
              <a:t>项目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功能介绍与</a:t>
            </a:r>
            <a:r>
              <a:rPr lang="zh-CN" altLang="en-US"/>
              <a:t>核心实现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预备操作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000"/>
              <a:t>获取以下深度相机的数据：</a:t>
            </a:r>
            <a:endParaRPr lang="zh-CN" altLang="en-US" sz="2000"/>
          </a:p>
          <a:p>
            <a:r>
              <a:rPr lang="zh-CN" altLang="en-US" sz="1400"/>
              <a:t>视频流</a:t>
            </a:r>
            <a:endParaRPr lang="zh-CN" altLang="en-US" sz="1400"/>
          </a:p>
          <a:p>
            <a:r>
              <a:rPr lang="zh-CN" altLang="en-US" sz="1400"/>
              <a:t>带</a:t>
            </a:r>
            <a:r>
              <a:rPr lang="en-US" altLang="zh-CN" sz="1400"/>
              <a:t>RGB</a:t>
            </a:r>
            <a:r>
              <a:rPr lang="zh-CN" altLang="en-US" sz="1400"/>
              <a:t>信息的点云</a:t>
            </a:r>
            <a:endParaRPr lang="zh-CN" altLang="en-US" sz="1400"/>
          </a:p>
          <a:p>
            <a:r>
              <a:rPr lang="zh-CN" altLang="en-US" sz="1400"/>
              <a:t>深度相机中</a:t>
            </a:r>
            <a:r>
              <a:rPr lang="en-US" altLang="zh-CN" sz="1400"/>
              <a:t>RGB</a:t>
            </a:r>
            <a:r>
              <a:rPr lang="zh-CN" altLang="en-US" sz="1400"/>
              <a:t>相机内参</a:t>
            </a:r>
            <a:r>
              <a:rPr lang="en-US" altLang="zh-CN" sz="1400"/>
              <a:t>(innerCamArgs)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根据</a:t>
            </a:r>
            <a:r>
              <a:rPr lang="en-US" altLang="zh-CN" sz="1400">
                <a:sym typeface="+mn-ea"/>
              </a:rPr>
              <a:t>innerCamArgs</a:t>
            </a:r>
            <a:r>
              <a:rPr lang="en-US" altLang="zh-CN" sz="1400"/>
              <a:t>+VTK</a:t>
            </a:r>
            <a:r>
              <a:rPr lang="zh-CN" altLang="en-US" sz="1400"/>
              <a:t>渲染区域长宽比例，调整</a:t>
            </a:r>
            <a:r>
              <a:rPr lang="en-US" altLang="zh-CN" sz="1400"/>
              <a:t>VTK</a:t>
            </a:r>
            <a:r>
              <a:rPr lang="zh-CN" altLang="en-US" sz="1400"/>
              <a:t>虚拟相机的内参，此时</a:t>
            </a:r>
            <a:r>
              <a:rPr lang="en-US" altLang="zh-CN" sz="1400"/>
              <a:t>VTK</a:t>
            </a:r>
            <a:r>
              <a:rPr lang="zh-CN" altLang="en-US" sz="1400"/>
              <a:t>中加入点云后，则点云和视频绝对</a:t>
            </a:r>
            <a:r>
              <a:rPr lang="zh-CN" altLang="en-US" sz="1400"/>
              <a:t>对齐</a:t>
            </a:r>
            <a:endParaRPr lang="zh-CN" altLang="en-US" sz="1400"/>
          </a:p>
          <a:p>
            <a:endParaRPr lang="zh-CN" altLang="en-US" sz="1400"/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458210"/>
            <a:ext cx="4853305" cy="27787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5030" y="6398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</a:t>
            </a:r>
            <a:r>
              <a:rPr lang="en-US" altLang="zh-CN"/>
              <a:t>:</a:t>
            </a:r>
            <a:r>
              <a:rPr lang="zh-CN" altLang="en-US"/>
              <a:t>程序中</a:t>
            </a:r>
            <a:r>
              <a:rPr lang="en-US" altLang="zh-CN"/>
              <a:t>3D</a:t>
            </a:r>
            <a:r>
              <a:rPr lang="zh-CN" altLang="en-US"/>
              <a:t>环境</a:t>
            </a:r>
            <a:r>
              <a:rPr lang="zh-CN" altLang="en-US"/>
              <a:t>的坐标单位</a:t>
            </a:r>
            <a:r>
              <a:rPr lang="zh-CN" altLang="en-US"/>
              <a:t>为毫米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粗配准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/>
              <a:t>导入通过</a:t>
            </a:r>
            <a:r>
              <a:rPr lang="en-US" altLang="zh-CN" sz="1400"/>
              <a:t>CT</a:t>
            </a:r>
            <a:r>
              <a:rPr lang="zh-CN" altLang="en-US" sz="1400"/>
              <a:t>数据三维重建头部</a:t>
            </a:r>
            <a:r>
              <a:rPr lang="en-US" altLang="zh-CN" sz="1400"/>
              <a:t>Mesh+</a:t>
            </a:r>
            <a:r>
              <a:rPr lang="zh-CN" altLang="en-US" sz="1400"/>
              <a:t>脑部器官</a:t>
            </a:r>
            <a:r>
              <a:rPr lang="en-US" altLang="zh-CN" sz="1400"/>
              <a:t>Mesh</a:t>
            </a:r>
            <a:endParaRPr lang="en-US" altLang="zh-CN" sz="1400"/>
          </a:p>
          <a:p>
            <a:r>
              <a:rPr lang="zh-CN" altLang="en-US" sz="1400"/>
              <a:t>手工在头部</a:t>
            </a:r>
            <a:r>
              <a:rPr lang="en-US" altLang="zh-CN" sz="1400"/>
              <a:t>Mesh</a:t>
            </a:r>
            <a:r>
              <a:rPr lang="zh-CN" altLang="en-US" sz="1400"/>
              <a:t>上选择不少于</a:t>
            </a:r>
            <a:r>
              <a:rPr lang="en-US" altLang="zh-CN" sz="1400"/>
              <a:t>3</a:t>
            </a:r>
            <a:r>
              <a:rPr lang="zh-CN" altLang="en-US" sz="1400"/>
              <a:t>个顶点，设为</a:t>
            </a:r>
            <a:r>
              <a:rPr lang="en-US" altLang="zh-CN" sz="1400"/>
              <a:t>sourcePoints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按照</a:t>
            </a:r>
            <a:r>
              <a:rPr lang="en-US" altLang="zh-CN" sz="1400">
                <a:sym typeface="+mn-ea"/>
              </a:rPr>
              <a:t>sourcePoints</a:t>
            </a:r>
            <a:r>
              <a:rPr lang="zh-CN" altLang="en-US" sz="1400">
                <a:sym typeface="+mn-ea"/>
              </a:rPr>
              <a:t>的每个点的头部部位，</a:t>
            </a:r>
            <a:r>
              <a:rPr lang="zh-CN" altLang="en-US" sz="1400"/>
              <a:t>手工在相机点云上选择对应点，设为</a:t>
            </a:r>
            <a:r>
              <a:rPr lang="en-US" altLang="zh-CN" sz="1400">
                <a:sym typeface="+mn-ea"/>
              </a:rPr>
              <a:t>targetPoints</a:t>
            </a:r>
            <a:endParaRPr lang="en-US" altLang="zh-CN" sz="1400">
              <a:sym typeface="+mn-ea"/>
            </a:endParaRPr>
          </a:p>
          <a:p>
            <a:r>
              <a:rPr lang="zh-CN" altLang="en-US" sz="1400"/>
              <a:t>将</a:t>
            </a:r>
            <a:r>
              <a:rPr lang="en-US" altLang="zh-CN" sz="1400">
                <a:sym typeface="+mn-ea"/>
              </a:rPr>
              <a:t>sourcePoints</a:t>
            </a:r>
            <a:r>
              <a:rPr lang="zh-CN" altLang="en-US" sz="1400">
                <a:sym typeface="+mn-ea"/>
              </a:rPr>
              <a:t>配准到</a:t>
            </a:r>
            <a:r>
              <a:rPr lang="en-US" altLang="zh-CN" sz="1400">
                <a:sym typeface="+mn-ea"/>
              </a:rPr>
              <a:t>targetPoints</a:t>
            </a:r>
            <a:r>
              <a:rPr lang="zh-CN" altLang="en-US" sz="1400">
                <a:sym typeface="+mn-ea"/>
              </a:rPr>
              <a:t>，获取粗配准的矩阵</a:t>
            </a:r>
            <a:r>
              <a:rPr lang="en-US" altLang="zh-CN" sz="1400">
                <a:sym typeface="+mn-ea"/>
              </a:rPr>
              <a:t>T1</a:t>
            </a:r>
            <a:endParaRPr lang="en-US" altLang="zh-CN" sz="1400">
              <a:sym typeface="+mn-ea"/>
            </a:endParaRPr>
          </a:p>
          <a:p>
            <a:endParaRPr lang="zh-CN" altLang="en-US" sz="1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035" y="3287395"/>
            <a:ext cx="5316220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精</a:t>
            </a:r>
            <a:r>
              <a:rPr lang="zh-CN" altLang="en-US"/>
              <a:t>配准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ICP(Point-to-Point)</a:t>
            </a:r>
            <a:r>
              <a:rPr lang="zh-CN" altLang="en-US"/>
              <a:t>算法将头模</a:t>
            </a:r>
            <a:r>
              <a:rPr lang="en-US" altLang="zh-CN"/>
              <a:t>Mesh</a:t>
            </a:r>
            <a:r>
              <a:rPr lang="zh-CN" altLang="en-US"/>
              <a:t>配准到</a:t>
            </a:r>
            <a:r>
              <a:rPr lang="zh-CN" altLang="en-US"/>
              <a:t>点云</a:t>
            </a:r>
            <a:endParaRPr lang="zh-CN" altLang="en-US"/>
          </a:p>
          <a:p>
            <a:r>
              <a:rPr lang="zh-CN" altLang="en-US"/>
              <a:t>将所有</a:t>
            </a:r>
            <a:r>
              <a:rPr lang="en-US" altLang="zh-CN"/>
              <a:t>Mesh</a:t>
            </a:r>
            <a:r>
              <a:rPr lang="zh-CN" altLang="en-US"/>
              <a:t>加入</a:t>
            </a:r>
            <a:r>
              <a:rPr lang="en-US" altLang="zh-CN"/>
              <a:t>VTK</a:t>
            </a:r>
            <a:r>
              <a:rPr lang="zh-CN" altLang="en-US"/>
              <a:t>中</a:t>
            </a:r>
            <a:r>
              <a:rPr lang="zh-CN" altLang="en-US"/>
              <a:t>渲染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525" y="3002280"/>
            <a:ext cx="5208905" cy="29267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3145" y="6144260"/>
            <a:ext cx="7310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</a:t>
            </a:r>
            <a:r>
              <a:rPr lang="en-US" altLang="zh-CN"/>
              <a:t>:</a:t>
            </a:r>
            <a:r>
              <a:rPr lang="zh-CN" altLang="en-US"/>
              <a:t>精配准完成后，点云这时候就可以废弃</a:t>
            </a:r>
            <a:r>
              <a:rPr lang="zh-CN" altLang="en-US"/>
              <a:t>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设置</a:t>
            </a:r>
            <a:r>
              <a:rPr lang="zh-CN" altLang="en-US"/>
              <a:t>基座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/>
              <a:t>当深度相机和实景中人体头部的相对位置发生变化时，可以根据基座来重新把</a:t>
            </a:r>
            <a:r>
              <a:rPr lang="en-US" altLang="zh-CN" sz="1400"/>
              <a:t>Mesh</a:t>
            </a:r>
            <a:r>
              <a:rPr lang="zh-CN" altLang="en-US" sz="1400"/>
              <a:t>对齐到视频中真人头部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1830" y="2202180"/>
            <a:ext cx="5907405" cy="32543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57605" y="5534025"/>
            <a:ext cx="91160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这个基座永远和真人头部绑定，当相机和真人头部发生相对位移超过</a:t>
            </a:r>
            <a:r>
              <a:rPr lang="en-US" altLang="zh-CN" sz="1400"/>
              <a:t>3mm</a:t>
            </a:r>
            <a:r>
              <a:rPr lang="zh-CN" altLang="en-US" sz="1400"/>
              <a:t>，程序可以实时判断出来，基座上面的</a:t>
            </a:r>
            <a:r>
              <a:rPr lang="en-US" altLang="zh-CN" sz="1400"/>
              <a:t>4</a:t>
            </a:r>
            <a:r>
              <a:rPr lang="zh-CN" altLang="en-US" sz="1400"/>
              <a:t>个球会被用于实时跟踪基座的在相机空间的位移</a:t>
            </a:r>
            <a:r>
              <a:rPr lang="en-US" altLang="zh-CN" sz="1400"/>
              <a:t>(</a:t>
            </a:r>
            <a:r>
              <a:rPr lang="zh-CN" altLang="en-US" sz="1400"/>
              <a:t>下面会和跟踪探针一起说明跟踪的实现原理</a:t>
            </a:r>
            <a:r>
              <a:rPr lang="en-US" altLang="zh-CN" sz="1400"/>
              <a:t>)</a:t>
            </a:r>
            <a:r>
              <a:rPr lang="zh-CN" altLang="en-US" sz="1400"/>
              <a:t>，根据基座位移向量，移动配准后的</a:t>
            </a:r>
            <a:r>
              <a:rPr lang="en-US" altLang="zh-CN" sz="1400"/>
              <a:t>Mesh</a:t>
            </a:r>
            <a:r>
              <a:rPr lang="zh-CN" altLang="en-US" sz="1400"/>
              <a:t>，完成</a:t>
            </a:r>
            <a:r>
              <a:rPr lang="en-US" altLang="zh-CN" sz="1400"/>
              <a:t>Meh</a:t>
            </a:r>
            <a:r>
              <a:rPr lang="zh-CN" altLang="en-US" sz="1400"/>
              <a:t>和视频中真人头部的</a:t>
            </a:r>
            <a:r>
              <a:rPr lang="zh-CN" altLang="en-US" sz="1400"/>
              <a:t>重新对齐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896620" y="6348730"/>
            <a:ext cx="10172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基座的面积尽可能达到头部横截面</a:t>
            </a:r>
            <a:r>
              <a:rPr lang="en-US" altLang="zh-CN" sz="1400"/>
              <a:t>4</a:t>
            </a:r>
            <a:r>
              <a:rPr lang="zh-CN" altLang="en-US" sz="1400"/>
              <a:t>分之一，面积大可以对头部模型姿态约束力越强，同时必须保证是</a:t>
            </a:r>
            <a:r>
              <a:rPr lang="zh-CN" altLang="en-US" sz="1400"/>
              <a:t>空间凸变形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跟踪</a:t>
            </a:r>
            <a:r>
              <a:rPr lang="zh-CN" altLang="en-US"/>
              <a:t>物体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0320" y="2202815"/>
            <a:ext cx="2226945" cy="19354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27735" y="16910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实体探针预览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4090670" y="1691005"/>
            <a:ext cx="309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探针</a:t>
            </a:r>
            <a:r>
              <a:rPr lang="en-US" altLang="zh-CN"/>
              <a:t>Mesh</a:t>
            </a:r>
            <a:r>
              <a:rPr lang="zh-CN" altLang="en-US"/>
              <a:t>预览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670" y="2202815"/>
            <a:ext cx="3091815" cy="19189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64565" y="4842510"/>
            <a:ext cx="701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被跟踪的物体暂时包括：基座、探针、引导器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890" y="2202815"/>
            <a:ext cx="2607945" cy="19392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55890" y="1691005"/>
            <a:ext cx="309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引导器</a:t>
            </a:r>
            <a:r>
              <a:rPr lang="en-US" altLang="zh-CN"/>
              <a:t>Mesh</a:t>
            </a:r>
            <a:r>
              <a:rPr lang="zh-CN" altLang="en-US"/>
              <a:t>预览</a:t>
            </a:r>
            <a:r>
              <a:rPr lang="en-US" altLang="zh-CN"/>
              <a:t>: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跟踪</a:t>
            </a:r>
            <a:r>
              <a:rPr lang="zh-CN" altLang="en-US"/>
              <a:t>物体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/>
              <a:t>探针上面的</a:t>
            </a:r>
            <a:r>
              <a:rPr lang="en-US" altLang="zh-CN" sz="1400"/>
              <a:t>4</a:t>
            </a:r>
            <a:r>
              <a:rPr lang="zh-CN" altLang="en-US" sz="1400"/>
              <a:t>个球，用于反射红外反光，这样可以通过深度相机中左右</a:t>
            </a:r>
            <a:r>
              <a:rPr lang="en-US" altLang="zh-CN" sz="1400"/>
              <a:t>IR</a:t>
            </a:r>
            <a:r>
              <a:rPr lang="zh-CN" altLang="en-US" sz="1400"/>
              <a:t>图像获取两轴对比鲜明的反光球图片，左右</a:t>
            </a:r>
            <a:r>
              <a:rPr lang="en-US" altLang="zh-CN" sz="1400"/>
              <a:t>IR</a:t>
            </a:r>
            <a:r>
              <a:rPr lang="zh-CN" altLang="en-US" sz="1400"/>
              <a:t>相机就是双目相机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通过双目算法算出</a:t>
            </a:r>
            <a:r>
              <a:rPr lang="en-US" altLang="zh-CN" sz="1400"/>
              <a:t>4</a:t>
            </a:r>
            <a:r>
              <a:rPr lang="zh-CN" altLang="en-US" sz="1400"/>
              <a:t>个反光球的</a:t>
            </a:r>
            <a:r>
              <a:rPr lang="en-US" altLang="zh-CN" sz="1400"/>
              <a:t>3D</a:t>
            </a:r>
            <a:r>
              <a:rPr lang="zh-CN" altLang="en-US" sz="1400"/>
              <a:t>顶点，并将其转换到</a:t>
            </a:r>
            <a:r>
              <a:rPr lang="en-US" altLang="zh-CN" sz="1400"/>
              <a:t>RGB</a:t>
            </a:r>
            <a:r>
              <a:rPr lang="zh-CN" altLang="en-US" sz="1400"/>
              <a:t>相机</a:t>
            </a:r>
            <a:r>
              <a:rPr lang="zh-CN" altLang="en-US" sz="1400"/>
              <a:t>空间</a:t>
            </a:r>
            <a:endParaRPr lang="zh-CN" altLang="en-US" sz="1400"/>
          </a:p>
          <a:p>
            <a:r>
              <a:rPr lang="zh-CN" altLang="en-US" sz="1400"/>
              <a:t>通过算出来的</a:t>
            </a:r>
            <a:r>
              <a:rPr lang="en-US" altLang="zh-CN" sz="1400"/>
              <a:t>4</a:t>
            </a:r>
            <a:r>
              <a:rPr lang="zh-CN" altLang="en-US" sz="1400"/>
              <a:t>个点，将探针的</a:t>
            </a:r>
            <a:r>
              <a:rPr lang="en-US" altLang="zh-CN" sz="1400"/>
              <a:t>Mesh</a:t>
            </a:r>
            <a:r>
              <a:rPr lang="zh-CN" altLang="en-US" sz="1400"/>
              <a:t>加入</a:t>
            </a:r>
            <a:r>
              <a:rPr lang="en-US" altLang="zh-CN" sz="1400"/>
              <a:t>VTK</a:t>
            </a:r>
            <a:r>
              <a:rPr lang="zh-CN" altLang="en-US" sz="1400"/>
              <a:t>中进行</a:t>
            </a:r>
            <a:r>
              <a:rPr lang="zh-CN" altLang="en-US" sz="1400"/>
              <a:t>渲染</a:t>
            </a: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705" y="2506345"/>
            <a:ext cx="1905000" cy="127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35" y="2538095"/>
            <a:ext cx="2068830" cy="127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30705" y="3879215"/>
            <a:ext cx="1083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左</a:t>
            </a:r>
            <a:r>
              <a:rPr lang="en-US" altLang="zh-CN" sz="1000"/>
              <a:t>IR</a:t>
            </a:r>
            <a:r>
              <a:rPr lang="zh-CN" altLang="en-US" sz="1000"/>
              <a:t>反光球图像</a:t>
            </a:r>
            <a:endParaRPr lang="zh-CN" altLang="en-US" sz="1000"/>
          </a:p>
        </p:txBody>
      </p:sp>
      <p:sp>
        <p:nvSpPr>
          <p:cNvPr id="7" name="文本框 6"/>
          <p:cNvSpPr txBox="1"/>
          <p:nvPr/>
        </p:nvSpPr>
        <p:spPr>
          <a:xfrm>
            <a:off x="4699635" y="3879215"/>
            <a:ext cx="1083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右</a:t>
            </a:r>
            <a:r>
              <a:rPr lang="en-US" altLang="zh-CN" sz="1000"/>
              <a:t>IR</a:t>
            </a:r>
            <a:r>
              <a:rPr lang="zh-CN" altLang="en-US" sz="1000"/>
              <a:t>反光球图像</a:t>
            </a:r>
            <a:endParaRPr lang="zh-CN" alt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跟踪</a:t>
            </a:r>
            <a:r>
              <a:rPr lang="zh-CN" altLang="en-US"/>
              <a:t>物体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73425" y="2198370"/>
            <a:ext cx="4448175" cy="34150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5675" y="1443990"/>
            <a:ext cx="10370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加入探针</a:t>
            </a:r>
            <a:r>
              <a:rPr lang="en-US" altLang="zh-CN"/>
              <a:t>Mesh</a:t>
            </a:r>
            <a:r>
              <a:rPr lang="zh-CN" altLang="en-US"/>
              <a:t>和头部</a:t>
            </a:r>
            <a:r>
              <a:rPr lang="en-US" altLang="zh-CN"/>
              <a:t>Mesh</a:t>
            </a:r>
            <a:r>
              <a:rPr lang="zh-CN" altLang="en-US"/>
              <a:t>后的</a:t>
            </a:r>
            <a:r>
              <a:rPr lang="en-US" altLang="zh-CN"/>
              <a:t>AR</a:t>
            </a:r>
            <a:r>
              <a:rPr lang="zh-CN" altLang="en-US"/>
              <a:t>视频，截图来自于当初的演示程序画面，探针</a:t>
            </a:r>
            <a:r>
              <a:rPr lang="en-US" altLang="zh-CN"/>
              <a:t>Mesh</a:t>
            </a:r>
            <a:r>
              <a:rPr lang="zh-CN" altLang="en-US"/>
              <a:t>会实时的跟踪实景中</a:t>
            </a:r>
            <a:r>
              <a:rPr lang="zh-CN" altLang="en-US"/>
              <a:t>探针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79475" y="5798185"/>
            <a:ext cx="9782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其余物体的跟踪原理，和探针一样。当算出来被跟踪物体在</a:t>
            </a:r>
            <a:r>
              <a:rPr lang="en-US" altLang="zh-CN"/>
              <a:t>3D</a:t>
            </a:r>
            <a:r>
              <a:rPr lang="zh-CN" altLang="en-US"/>
              <a:t>环境中的顶点后，根据不同物体模板的顶点数据</a:t>
            </a:r>
            <a:r>
              <a:rPr lang="en-US" altLang="zh-CN"/>
              <a:t>(</a:t>
            </a:r>
            <a:r>
              <a:rPr lang="zh-CN" altLang="en-US"/>
              <a:t>代码</a:t>
            </a:r>
            <a:r>
              <a:rPr lang="zh-CN" altLang="en-US"/>
              <a:t>中硬编码</a:t>
            </a:r>
            <a:r>
              <a:rPr lang="en-US" altLang="zh-CN"/>
              <a:t>)</a:t>
            </a:r>
            <a:r>
              <a:rPr lang="zh-CN" altLang="en-US"/>
              <a:t>，识别出跟踪物体的</a:t>
            </a:r>
            <a:r>
              <a:rPr lang="zh-CN" altLang="en-US"/>
              <a:t>种类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核心</a:t>
            </a:r>
            <a:r>
              <a:rPr lang="zh-CN" altLang="en-US"/>
              <a:t>算法</a:t>
            </a:r>
            <a:r>
              <a:rPr lang="en-US" altLang="zh-CN"/>
              <a:t>-2D</a:t>
            </a:r>
            <a:r>
              <a:rPr lang="zh-CN" altLang="en-US"/>
              <a:t>图片杂光</a:t>
            </a:r>
            <a:r>
              <a:rPr lang="zh-CN" altLang="en-US"/>
              <a:t>排除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/>
              <a:t>识别出反光球的光斑在左右</a:t>
            </a:r>
            <a:r>
              <a:rPr lang="en-US" altLang="zh-CN" sz="1400"/>
              <a:t>IR</a:t>
            </a:r>
            <a:r>
              <a:rPr lang="zh-CN" altLang="en-US" sz="1400"/>
              <a:t>图像中的中心点和半径</a:t>
            </a:r>
            <a:endParaRPr lang="zh-CN" altLang="en-US" sz="1400"/>
          </a:p>
          <a:p>
            <a:r>
              <a:rPr lang="zh-CN" altLang="en-US" sz="1400"/>
              <a:t>按照阈值踢除半径过大或者过小的光斑</a:t>
            </a:r>
            <a:endParaRPr lang="zh-CN" altLang="en-US" sz="1400"/>
          </a:p>
          <a:p>
            <a:r>
              <a:rPr lang="zh-CN" altLang="en-US" sz="1400"/>
              <a:t>左右</a:t>
            </a:r>
            <a:r>
              <a:rPr lang="en-US" altLang="zh-CN" sz="1400"/>
              <a:t>IR</a:t>
            </a:r>
            <a:r>
              <a:rPr lang="zh-CN" altLang="en-US" sz="1400"/>
              <a:t>图像中光斑配对</a:t>
            </a:r>
            <a:r>
              <a:rPr lang="en-US" altLang="zh-CN" sz="1400"/>
              <a:t>:</a:t>
            </a:r>
            <a:endParaRPr lang="en-US" altLang="zh-CN" sz="1400"/>
          </a:p>
          <a:p>
            <a:pPr marL="0" indent="457200">
              <a:buNone/>
            </a:pP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、计算左右</a:t>
            </a:r>
            <a:r>
              <a:rPr lang="en-US" altLang="zh-CN" sz="1400">
                <a:sym typeface="+mn-ea"/>
              </a:rPr>
              <a:t>IR</a:t>
            </a:r>
            <a:r>
              <a:rPr lang="zh-CN" altLang="en-US" sz="1400">
                <a:sym typeface="+mn-ea"/>
              </a:rPr>
              <a:t>图像中每个光斑和其他光斑形成的向量，设左</a:t>
            </a:r>
            <a:r>
              <a:rPr lang="en-US" altLang="zh-CN" sz="1400">
                <a:sym typeface="+mn-ea"/>
              </a:rPr>
              <a:t>IR</a:t>
            </a:r>
            <a:r>
              <a:rPr lang="zh-CN" altLang="en-US" sz="1400">
                <a:sym typeface="+mn-ea"/>
              </a:rPr>
              <a:t>向量集合</a:t>
            </a:r>
            <a:r>
              <a:rPr lang="en-US" altLang="zh-CN" sz="1400">
                <a:sym typeface="+mn-ea"/>
              </a:rPr>
              <a:t>leftRefVectors</a:t>
            </a:r>
            <a:r>
              <a:rPr lang="zh-CN" altLang="en-US" sz="1400">
                <a:sym typeface="+mn-ea"/>
              </a:rPr>
              <a:t>、右向量集合</a:t>
            </a:r>
            <a:r>
              <a:rPr lang="en-US" altLang="zh-CN" sz="1400">
                <a:sym typeface="+mn-ea"/>
              </a:rPr>
              <a:t>rightRefVectors</a:t>
            </a:r>
            <a:endParaRPr lang="en-US" altLang="zh-CN" sz="1400">
              <a:sym typeface="+mn-ea"/>
            </a:endParaRPr>
          </a:p>
          <a:p>
            <a:pPr marL="0" indent="457200">
              <a:buNone/>
            </a:pPr>
            <a:r>
              <a:rPr lang="en-US" altLang="zh-CN" sz="1400">
                <a:sym typeface="+mn-ea"/>
              </a:rPr>
              <a:t>      </a:t>
            </a:r>
            <a:r>
              <a:rPr lang="zh-CN" altLang="en-US" sz="1400">
                <a:sym typeface="+mn-ea"/>
              </a:rPr>
              <a:t>类型</a:t>
            </a:r>
            <a:r>
              <a:rPr lang="en-US" altLang="zh-CN" sz="1400">
                <a:sym typeface="+mn-ea"/>
              </a:rPr>
              <a:t>std::vector&lt;std::vector&lt;cv::Point2f&gt;&gt;</a:t>
            </a:r>
            <a:endParaRPr lang="en-US" altLang="zh-CN" sz="1400">
              <a:sym typeface="+mn-ea"/>
            </a:endParaRPr>
          </a:p>
          <a:p>
            <a:pPr marL="0" indent="457200">
              <a:buNone/>
            </a:pP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、为每个左点找“局部几何结构最相似”的最佳右点，每个左点只保留一个得分最高的右点，</a:t>
            </a:r>
            <a:endParaRPr lang="zh-CN" altLang="en-US" sz="1400"/>
          </a:p>
          <a:p>
            <a:pPr marL="0" indent="457200">
              <a:buNone/>
            </a:pPr>
            <a:r>
              <a:rPr lang="en-US" altLang="zh-CN" sz="1400">
                <a:sym typeface="+mn-ea"/>
              </a:rPr>
              <a:t>3</a:t>
            </a:r>
            <a:r>
              <a:rPr lang="zh-CN" altLang="en-US" sz="1400">
                <a:sym typeface="+mn-ea"/>
              </a:rPr>
              <a:t>、</a:t>
            </a:r>
            <a:r>
              <a:rPr lang="en-US" altLang="zh-CN" sz="1400">
                <a:sym typeface="+mn-ea"/>
              </a:rPr>
              <a:t> </a:t>
            </a:r>
            <a:r>
              <a:rPr lang="en-US" altLang="zh-CN" sz="1400">
                <a:sym typeface="+mn-ea"/>
              </a:rPr>
              <a:t>leftRefVectors</a:t>
            </a:r>
            <a:r>
              <a:rPr lang="zh-CN" altLang="en-US" sz="1400">
                <a:sym typeface="+mn-ea"/>
              </a:rPr>
              <a:t>中每个向量和</a:t>
            </a:r>
            <a:r>
              <a:rPr lang="en-US" altLang="zh-CN" sz="1400">
                <a:sym typeface="+mn-ea"/>
              </a:rPr>
              <a:t>rightRefVectors</a:t>
            </a:r>
            <a:r>
              <a:rPr lang="zh-CN" altLang="en-US" sz="1400">
                <a:sym typeface="+mn-ea"/>
              </a:rPr>
              <a:t>每个向量的匹配分数计算方法</a:t>
            </a:r>
            <a:r>
              <a:rPr lang="en-US" altLang="zh-CN" sz="1400">
                <a:sym typeface="+mn-ea"/>
              </a:rPr>
              <a:t>:</a:t>
            </a:r>
            <a:endParaRPr lang="en-US" altLang="zh-CN" sz="1400">
              <a:sym typeface="+mn-ea"/>
            </a:endParaRPr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200">
              <a:sym typeface="+mn-ea"/>
            </a:endParaRPr>
          </a:p>
          <a:p>
            <a:pPr marL="0" indent="0">
              <a:buNone/>
            </a:pPr>
            <a:endParaRPr lang="en-US" altLang="zh-CN" sz="1200">
              <a:sym typeface="+mn-ea"/>
            </a:endParaRPr>
          </a:p>
          <a:p>
            <a:pPr marL="0" indent="0">
              <a:buNone/>
            </a:pPr>
            <a:endParaRPr lang="zh-CN" altLang="en-US" sz="1200">
              <a:sym typeface="+mn-ea"/>
            </a:endParaRPr>
          </a:p>
        </p:txBody>
      </p:sp>
      <p:sp>
        <p:nvSpPr>
          <p:cNvPr id="4" name="文本框 3" descr="7b0a202020202262756c6c6574223a20227b5c2263617465676f727949645c223a5c225c222c5c2274656d706c61746549645c223a32303233313731347d220a7d0a"/>
          <p:cNvSpPr txBox="1"/>
          <p:nvPr/>
        </p:nvSpPr>
        <p:spPr>
          <a:xfrm>
            <a:off x="1601470" y="3738245"/>
            <a:ext cx="7038340" cy="12128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pPr marL="0" lvl="0" indent="0" algn="l"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1200">
                <a:sym typeface="+mn-ea"/>
              </a:rPr>
              <a:t>设</a:t>
            </a:r>
            <a:r>
              <a:rPr lang="en-US" altLang="zh-CN" sz="1200">
                <a:sym typeface="+mn-ea"/>
              </a:rPr>
              <a:t>vecAngle</a:t>
            </a:r>
            <a:r>
              <a:rPr lang="zh-CN" altLang="en-US" sz="1200">
                <a:sym typeface="+mn-ea"/>
              </a:rPr>
              <a:t>为两向量夹角</a:t>
            </a:r>
            <a:endParaRPr lang="zh-CN" altLang="en-US" sz="1200">
              <a:sym typeface="+mn-ea"/>
            </a:endParaRPr>
          </a:p>
          <a:p>
            <a:pPr marL="0" lvl="0" indent="0" algn="l"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altLang="zh-CN" sz="1200">
                <a:sym typeface="+mn-ea"/>
              </a:rPr>
              <a:t>maxLen</a:t>
            </a:r>
            <a:r>
              <a:rPr lang="zh-CN" altLang="en-US" sz="1200">
                <a:sym typeface="+mn-ea"/>
              </a:rPr>
              <a:t>为两向量中模最大的值</a:t>
            </a:r>
            <a:endParaRPr lang="zh-CN" altLang="en-US" sz="1200">
              <a:sym typeface="+mn-ea"/>
            </a:endParaRPr>
          </a:p>
          <a:p>
            <a:pPr marL="0" lvl="0" indent="0" algn="l"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altLang="zh-CN" sz="1200">
                <a:sym typeface="+mn-ea"/>
              </a:rPr>
              <a:t>minLen</a:t>
            </a:r>
            <a:r>
              <a:rPr lang="zh-CN" altLang="en-US" sz="1200">
                <a:sym typeface="+mn-ea"/>
              </a:rPr>
              <a:t>为两向量中模最小的值</a:t>
            </a:r>
            <a:endParaRPr lang="zh-CN" altLang="en-US" sz="1200">
              <a:sym typeface="+mn-ea"/>
            </a:endParaRPr>
          </a:p>
          <a:p>
            <a:pPr marL="0" lvl="0" indent="0" algn="l"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altLang="zh-CN" sz="1200">
                <a:sym typeface="+mn-ea"/>
              </a:rPr>
              <a:t>vecLenRatio=minLen / maxLen</a:t>
            </a:r>
            <a:endParaRPr lang="en-US" altLang="zh-CN" sz="1200">
              <a:sym typeface="+mn-ea"/>
            </a:endParaRPr>
          </a:p>
          <a:p>
            <a:pPr marL="0" lvl="0" indent="0" algn="l"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zh-CN" altLang="en-US" sz="1200">
                <a:sym typeface="+mn-ea"/>
              </a:rPr>
              <a:t>则匹配分数</a:t>
            </a:r>
            <a:r>
              <a:rPr lang="en-US" altLang="zh-CN" sz="1200">
                <a:sym typeface="+mn-ea"/>
              </a:rPr>
              <a:t>=(CV_PI - vecAngle) * (1.0 + vecLenRatio) * (maxRadius - std::abs(leftRadius - rightRadius)) </a:t>
            </a:r>
            <a:endParaRPr lang="en-US" altLang="zh-CN" sz="1200">
              <a:sym typeface="+mn-ea"/>
            </a:endParaRPr>
          </a:p>
          <a:p>
            <a:pPr marL="0" lvl="0" indent="0" algn="l"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r>
              <a:rPr lang="en-US" altLang="zh-CN" sz="1200">
                <a:sym typeface="+mn-ea"/>
              </a:rPr>
              <a:t>leftRadius - rightRadius</a:t>
            </a:r>
            <a:r>
              <a:rPr lang="zh-CN" altLang="en-US" sz="1200">
                <a:sym typeface="+mn-ea"/>
              </a:rPr>
              <a:t>取绝对</a:t>
            </a:r>
            <a:r>
              <a:rPr lang="zh-CN" altLang="en-US" sz="1200">
                <a:sym typeface="+mn-ea"/>
              </a:rPr>
              <a:t>值，用于排除光斑大小差距很大时错配</a:t>
            </a:r>
            <a:r>
              <a:rPr lang="zh-CN" altLang="en-US" sz="1200">
                <a:sym typeface="+mn-ea"/>
              </a:rPr>
              <a:t>现象</a:t>
            </a:r>
            <a:endParaRPr lang="zh-CN" altLang="en-US" sz="12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核心算法</a:t>
            </a:r>
            <a:r>
              <a:rPr lang="en-US" altLang="zh-CN">
                <a:sym typeface="+mn-ea"/>
              </a:rPr>
              <a:t>-2D</a:t>
            </a:r>
            <a:r>
              <a:rPr lang="zh-CN" altLang="en-US">
                <a:sym typeface="+mn-ea"/>
              </a:rPr>
              <a:t>图片杂光排除</a:t>
            </a:r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463040" y="2399665"/>
            <a:ext cx="3168015" cy="205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463040" y="1965325"/>
            <a:ext cx="3168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</a:t>
            </a:r>
            <a:r>
              <a:rPr lang="en-US" altLang="zh-CN"/>
              <a:t>IR</a:t>
            </a:r>
            <a:r>
              <a:rPr lang="zh-CN" altLang="en-US"/>
              <a:t>中光斑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391150" y="2399665"/>
            <a:ext cx="3168015" cy="205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391150" y="1965325"/>
            <a:ext cx="3168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右</a:t>
            </a:r>
            <a:r>
              <a:rPr lang="en-US" altLang="zh-CN"/>
              <a:t>IR</a:t>
            </a:r>
            <a:r>
              <a:rPr lang="zh-CN" altLang="en-US"/>
              <a:t>中光斑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12" name="内容占位符 11"/>
          <p:cNvPicPr>
            <a:picLocks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758950" y="2691130"/>
            <a:ext cx="1947545" cy="14757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63640" y="2691130"/>
            <a:ext cx="2236470" cy="168656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>
            <p:custDataLst>
              <p:tags r:id="rId8"/>
            </p:custDataLst>
          </p:nvPr>
        </p:nvCxnSpPr>
        <p:spPr>
          <a:xfrm flipH="1" flipV="1">
            <a:off x="7067550" y="2800350"/>
            <a:ext cx="387350" cy="12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>
            <p:custDataLst>
              <p:tags r:id="rId9"/>
            </p:custDataLst>
          </p:nvPr>
        </p:nvCxnSpPr>
        <p:spPr>
          <a:xfrm flipH="1">
            <a:off x="1935480" y="2880995"/>
            <a:ext cx="721360" cy="10712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10"/>
            </p:custDataLst>
          </p:nvPr>
        </p:nvCxnSpPr>
        <p:spPr>
          <a:xfrm>
            <a:off x="2701925" y="2872105"/>
            <a:ext cx="153035" cy="9836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11"/>
            </p:custDataLst>
          </p:nvPr>
        </p:nvCxnSpPr>
        <p:spPr>
          <a:xfrm>
            <a:off x="2733040" y="2795270"/>
            <a:ext cx="350520" cy="292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12"/>
            </p:custDataLst>
          </p:nvPr>
        </p:nvCxnSpPr>
        <p:spPr>
          <a:xfrm>
            <a:off x="2719705" y="2818130"/>
            <a:ext cx="745490" cy="1072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3"/>
            </p:custDataLst>
          </p:nvPr>
        </p:nvCxnSpPr>
        <p:spPr>
          <a:xfrm flipH="1">
            <a:off x="6794500" y="2857500"/>
            <a:ext cx="704850" cy="552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4"/>
            </p:custDataLst>
          </p:nvPr>
        </p:nvCxnSpPr>
        <p:spPr>
          <a:xfrm flipH="1">
            <a:off x="7378700" y="2901950"/>
            <a:ext cx="146050" cy="6781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15"/>
            </p:custDataLst>
          </p:nvPr>
        </p:nvCxnSpPr>
        <p:spPr>
          <a:xfrm>
            <a:off x="7575550" y="2882900"/>
            <a:ext cx="190500" cy="1149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16"/>
            </p:custDataLst>
          </p:nvPr>
        </p:nvCxnSpPr>
        <p:spPr>
          <a:xfrm flipH="1">
            <a:off x="6652260" y="2876550"/>
            <a:ext cx="866140" cy="12833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>
            <p:custDataLst>
              <p:tags r:id="rId17"/>
            </p:custDataLst>
          </p:nvPr>
        </p:nvCxnSpPr>
        <p:spPr>
          <a:xfrm>
            <a:off x="7585710" y="2862580"/>
            <a:ext cx="453390" cy="3098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18"/>
            </p:custDataLst>
          </p:nvPr>
        </p:nvCxnSpPr>
        <p:spPr>
          <a:xfrm flipH="1">
            <a:off x="2017395" y="2795270"/>
            <a:ext cx="589915" cy="495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243330" y="4703445"/>
            <a:ext cx="76098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红色圆为光斑，黑色为杂光，箭头表明向量，此时</a:t>
            </a:r>
            <a:r>
              <a:rPr lang="en-US" altLang="zh-CN" sz="1400"/>
              <a:t>”</a:t>
            </a:r>
            <a:r>
              <a:rPr lang="zh-CN" altLang="en-US" sz="1400"/>
              <a:t>左</a:t>
            </a:r>
            <a:r>
              <a:rPr lang="en-US" altLang="zh-CN" sz="1400"/>
              <a:t>IR</a:t>
            </a:r>
            <a:r>
              <a:rPr lang="zh-CN" altLang="en-US" sz="1400"/>
              <a:t>图像中向量</a:t>
            </a:r>
            <a:r>
              <a:rPr lang="en-US" altLang="zh-CN" sz="1400"/>
              <a:t>AD”</a:t>
            </a:r>
            <a:r>
              <a:rPr lang="zh-CN" altLang="en-US" sz="1400"/>
              <a:t>与</a:t>
            </a:r>
            <a:r>
              <a:rPr lang="en-US" altLang="zh-CN" sz="1400"/>
              <a:t>”</a:t>
            </a:r>
            <a:r>
              <a:rPr lang="zh-CN" altLang="en-US" sz="1400"/>
              <a:t>右</a:t>
            </a:r>
            <a:r>
              <a:rPr lang="en-US" altLang="zh-CN" sz="1400"/>
              <a:t>IR</a:t>
            </a:r>
            <a:r>
              <a:rPr lang="zh-CN" altLang="en-US" sz="1400"/>
              <a:t>图像中向量</a:t>
            </a:r>
            <a:r>
              <a:rPr lang="en-US" altLang="zh-CN" sz="1400"/>
              <a:t>AD”</a:t>
            </a:r>
            <a:r>
              <a:rPr lang="zh-CN" altLang="en-US" sz="1400"/>
              <a:t>，经过匹配分数公式计算后，匹配分数</a:t>
            </a:r>
            <a:r>
              <a:rPr lang="zh-CN" altLang="en-US" sz="1400"/>
              <a:t>最大</a:t>
            </a:r>
            <a:endParaRPr lang="zh-CN" altLang="en-US" sz="1400"/>
          </a:p>
        </p:txBody>
      </p:sp>
      <p:cxnSp>
        <p:nvCxnSpPr>
          <p:cNvPr id="29" name="直接箭头连接符 28"/>
          <p:cNvCxnSpPr/>
          <p:nvPr>
            <p:custDataLst>
              <p:tags r:id="rId19"/>
            </p:custDataLst>
          </p:nvPr>
        </p:nvCxnSpPr>
        <p:spPr>
          <a:xfrm flipH="1">
            <a:off x="2042160" y="2827020"/>
            <a:ext cx="579120" cy="4800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核心算法</a:t>
            </a:r>
            <a:r>
              <a:rPr lang="en-US" altLang="zh-CN">
                <a:sym typeface="+mn-ea"/>
              </a:rPr>
              <a:t>-2D</a:t>
            </a:r>
            <a:r>
              <a:rPr lang="zh-CN" altLang="en-US">
                <a:sym typeface="+mn-ea"/>
              </a:rPr>
              <a:t>图片杂光排除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>
                <a:sym typeface="+mn-ea"/>
              </a:rPr>
              <a:t>右边的光斑可能成为多个左边光斑的最佳匹配点，需要处理</a:t>
            </a:r>
            <a:r>
              <a:rPr lang="zh-CN" altLang="en-US" sz="1400">
                <a:sym typeface="+mn-ea"/>
              </a:rPr>
              <a:t>以保证匹配关系一一对应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物理场景的杂光要么同时出现在一个</a:t>
            </a:r>
            <a:r>
              <a:rPr lang="en-US" altLang="zh-CN" sz="1400">
                <a:sym typeface="+mn-ea"/>
              </a:rPr>
              <a:t>IR</a:t>
            </a:r>
            <a:r>
              <a:rPr lang="zh-CN" altLang="en-US" sz="1400">
                <a:sym typeface="+mn-ea"/>
              </a:rPr>
              <a:t>图像中，要么同时出现在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个</a:t>
            </a:r>
            <a:r>
              <a:rPr lang="en-US" altLang="zh-CN" sz="1400">
                <a:sym typeface="+mn-ea"/>
              </a:rPr>
              <a:t>IR</a:t>
            </a:r>
            <a:r>
              <a:rPr lang="zh-CN" altLang="en-US" sz="1400">
                <a:sym typeface="+mn-ea"/>
              </a:rPr>
              <a:t>图像中，大部分只出现在一个</a:t>
            </a:r>
            <a:r>
              <a:rPr lang="en-US" altLang="zh-CN" sz="1400">
                <a:sym typeface="+mn-ea"/>
              </a:rPr>
              <a:t>IR</a:t>
            </a:r>
            <a:r>
              <a:rPr lang="zh-CN" altLang="en-US" sz="1400">
                <a:sym typeface="+mn-ea"/>
              </a:rPr>
              <a:t>图像中。匹配算法中，大部分的杂光会因为半径差异过大被过滤，或者匹配度低于设定的阈值则直接排除，如果杂光被错误识别为正常光斑，则进入</a:t>
            </a:r>
            <a:r>
              <a:rPr lang="en-US" altLang="zh-CN" sz="1400">
                <a:sym typeface="+mn-ea"/>
              </a:rPr>
              <a:t>3D</a:t>
            </a:r>
            <a:r>
              <a:rPr lang="zh-CN" altLang="en-US" sz="1400">
                <a:sym typeface="+mn-ea"/>
              </a:rPr>
              <a:t>物体模版匹配中进行过滤</a:t>
            </a:r>
            <a:endParaRPr lang="zh-CN" altLang="en-US" sz="1400">
              <a:sym typeface="+mn-ea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核心算法</a:t>
            </a:r>
            <a:r>
              <a:rPr lang="en-US" altLang="zh-CN">
                <a:sym typeface="+mn-ea"/>
              </a:rPr>
              <a:t>-</a:t>
            </a:r>
            <a:r>
              <a:rPr lang="en-US"/>
              <a:t>3D</a:t>
            </a:r>
            <a:r>
              <a:rPr lang="zh-CN" altLang="en-US"/>
              <a:t>物体</a:t>
            </a:r>
            <a:r>
              <a:rPr lang="zh-CN" altLang="en-US"/>
              <a:t>模板匹配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/>
              <a:t>定义跟踪物体顶点模版，例如：探针有</a:t>
            </a:r>
            <a:r>
              <a:rPr lang="en-US" altLang="zh-CN" sz="1400"/>
              <a:t>4</a:t>
            </a:r>
            <a:r>
              <a:rPr lang="zh-CN" altLang="en-US" sz="1400"/>
              <a:t>个反光球，人为定位</a:t>
            </a:r>
            <a:r>
              <a:rPr lang="en-US" altLang="zh-CN" sz="1400"/>
              <a:t>Mesh</a:t>
            </a:r>
            <a:r>
              <a:rPr lang="zh-CN" altLang="en-US" sz="1400"/>
              <a:t>上四个</a:t>
            </a:r>
            <a:r>
              <a:rPr lang="zh-CN" altLang="en-US" sz="1400"/>
              <a:t>反光球中心的位置作为模板，也就是说探针模板为</a:t>
            </a:r>
            <a:r>
              <a:rPr lang="en-US" altLang="zh-CN" sz="1400"/>
              <a:t>4</a:t>
            </a:r>
            <a:r>
              <a:rPr lang="zh-CN" altLang="en-US" sz="1400"/>
              <a:t>个顶点</a:t>
            </a:r>
            <a:r>
              <a:rPr lang="zh-CN" altLang="en-US" sz="1400"/>
              <a:t>数据</a:t>
            </a:r>
            <a:endParaRPr lang="zh-CN" altLang="en-US" sz="1400"/>
          </a:p>
          <a:p>
            <a:r>
              <a:rPr lang="zh-CN" altLang="en-US" sz="1400"/>
              <a:t>通过探针、基座、引导器的模板依次去匹配算出来</a:t>
            </a:r>
            <a:r>
              <a:rPr lang="zh-CN" altLang="en-US" sz="1400"/>
              <a:t>的顶点集合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设</a:t>
            </a:r>
            <a:r>
              <a:rPr lang="en-US" altLang="zh-CN" sz="1400">
                <a:sym typeface="+mn-ea"/>
              </a:rPr>
              <a:t>IR</a:t>
            </a:r>
            <a:r>
              <a:rPr lang="zh-CN" altLang="en-US" sz="1400">
                <a:sym typeface="+mn-ea"/>
              </a:rPr>
              <a:t>图像中算出的顶点</a:t>
            </a:r>
            <a:r>
              <a:rPr lang="zh-CN" altLang="en-US" sz="1400">
                <a:sym typeface="+mn-ea"/>
              </a:rPr>
              <a:t>集合为</a:t>
            </a:r>
            <a:r>
              <a:rPr lang="en-US" altLang="zh-CN" sz="1400">
                <a:sym typeface="+mn-ea"/>
              </a:rPr>
              <a:t>trackPoints</a:t>
            </a:r>
            <a:endParaRPr lang="en-US" altLang="zh-CN" sz="1400">
              <a:sym typeface="+mn-ea"/>
            </a:endParaRPr>
          </a:p>
          <a:p>
            <a:r>
              <a:rPr lang="en-US" altLang="zh-CN" sz="1400">
                <a:sym typeface="+mn-ea"/>
              </a:rPr>
              <a:t>trackPoints</a:t>
            </a:r>
            <a:r>
              <a:rPr lang="zh-CN" altLang="en-US" sz="1400">
                <a:sym typeface="+mn-ea"/>
              </a:rPr>
              <a:t>取出和每个物体模板顶点同样数量的顶点，进行刚性变换，并记录</a:t>
            </a:r>
            <a:r>
              <a:rPr lang="en-US" altLang="zh-CN" sz="1400">
                <a:sym typeface="+mn-ea"/>
              </a:rPr>
              <a:t>MAE(</a:t>
            </a:r>
            <a:r>
              <a:rPr lang="zh-CN" altLang="en-US" sz="1400">
                <a:sym typeface="+mn-ea"/>
              </a:rPr>
              <a:t>绝对值误差</a:t>
            </a:r>
            <a:r>
              <a:rPr lang="en-US" altLang="zh-CN" sz="1400">
                <a:sym typeface="+mn-ea"/>
              </a:rPr>
              <a:t>)</a:t>
            </a:r>
            <a:r>
              <a:rPr lang="zh-CN" altLang="en-US" sz="1400">
                <a:sym typeface="+mn-ea"/>
              </a:rPr>
              <a:t>，当</a:t>
            </a:r>
            <a:r>
              <a:rPr lang="en-US" altLang="zh-CN" sz="1400">
                <a:sym typeface="+mn-ea"/>
              </a:rPr>
              <a:t>MAE</a:t>
            </a:r>
            <a:r>
              <a:rPr lang="zh-CN" altLang="en-US" sz="1400">
                <a:sym typeface="+mn-ea"/>
              </a:rPr>
              <a:t>小于指定阈值时，设为潜在匹配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最初算出</a:t>
            </a:r>
            <a:r>
              <a:rPr lang="en-US" altLang="zh-CN" sz="1400">
                <a:sym typeface="+mn-ea"/>
              </a:rPr>
              <a:t>trackPoints</a:t>
            </a:r>
            <a:r>
              <a:rPr lang="zh-CN" altLang="en-US" sz="1400">
                <a:sym typeface="+mn-ea"/>
              </a:rPr>
              <a:t>中</a:t>
            </a:r>
            <a:r>
              <a:rPr lang="en-US" altLang="zh-CN" sz="1400">
                <a:sym typeface="+mn-ea"/>
              </a:rPr>
              <a:t>MAE</a:t>
            </a:r>
            <a:r>
              <a:rPr lang="zh-CN" altLang="en-US" sz="1400">
                <a:sym typeface="+mn-ea"/>
              </a:rPr>
              <a:t>最小点集合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每个物体模板都和</a:t>
            </a:r>
            <a:r>
              <a:rPr lang="en-US" altLang="zh-CN" sz="1400">
                <a:sym typeface="+mn-ea"/>
              </a:rPr>
              <a:t>trackPoints</a:t>
            </a:r>
            <a:r>
              <a:rPr lang="zh-CN" altLang="en-US" sz="1400">
                <a:sym typeface="+mn-ea"/>
              </a:rPr>
              <a:t>中顶点匹配一遍</a:t>
            </a:r>
            <a:endParaRPr lang="zh-CN" altLang="en-US" sz="1400">
              <a:sym typeface="+mn-ea"/>
            </a:endParaRPr>
          </a:p>
          <a:p>
            <a:r>
              <a:rPr lang="zh-CN" altLang="en-US" sz="1400">
                <a:sym typeface="+mn-ea"/>
              </a:rPr>
              <a:t>最终得出一个</a:t>
            </a:r>
            <a:r>
              <a:rPr lang="en-US" altLang="zh-CN" sz="1400">
                <a:sym typeface="+mn-ea"/>
              </a:rPr>
              <a:t>total_MAE</a:t>
            </a:r>
            <a:r>
              <a:rPr lang="zh-CN" altLang="en-US" sz="1400">
                <a:sym typeface="+mn-ea"/>
              </a:rPr>
              <a:t>最小的匹配组合，作为</a:t>
            </a:r>
            <a:r>
              <a:rPr lang="zh-CN" altLang="en-US" sz="1400">
                <a:sym typeface="+mn-ea"/>
              </a:rPr>
              <a:t>此轮跟踪物体的类型分类</a:t>
            </a:r>
            <a:endParaRPr lang="zh-CN" altLang="en-US" sz="1400">
              <a:sym typeface="+mn-ea"/>
            </a:endParaRPr>
          </a:p>
          <a:p>
            <a:pPr marL="0" indent="0">
              <a:buNone/>
            </a:pPr>
            <a:r>
              <a:rPr lang="zh-CN" altLang="en-US" sz="1400">
                <a:sym typeface="+mn-ea"/>
              </a:rPr>
              <a:t>上述匹配方法需要把物体模板的顺序全排列一下，再进行匹配，因为有的物体模板会把不属于它的顶点作为最佳匹配，最终整个流程中取总</a:t>
            </a:r>
            <a:r>
              <a:rPr lang="en-US" altLang="zh-CN" sz="1400">
                <a:sym typeface="+mn-ea"/>
              </a:rPr>
              <a:t>MAE</a:t>
            </a:r>
            <a:r>
              <a:rPr lang="zh-CN" altLang="en-US" sz="1400">
                <a:sym typeface="+mn-ea"/>
              </a:rPr>
              <a:t>最小的作为匹配组合，因为杂光的顶点造成的</a:t>
            </a:r>
            <a:r>
              <a:rPr lang="en-US" altLang="zh-CN" sz="1400">
                <a:sym typeface="+mn-ea"/>
              </a:rPr>
              <a:t>MAE</a:t>
            </a:r>
            <a:r>
              <a:rPr lang="zh-CN" altLang="en-US" sz="1400">
                <a:sym typeface="+mn-ea"/>
              </a:rPr>
              <a:t>很大，所以计算完成时，杂光就已经被</a:t>
            </a:r>
            <a:r>
              <a:rPr lang="zh-CN" altLang="en-US" sz="1400">
                <a:sym typeface="+mn-ea"/>
              </a:rPr>
              <a:t>排除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核心算法</a:t>
            </a:r>
            <a:r>
              <a:rPr lang="en-US" altLang="zh-CN">
                <a:sym typeface="+mn-ea"/>
              </a:rPr>
              <a:t>-</a:t>
            </a:r>
            <a:r>
              <a:rPr lang="en-US" altLang="zh-CN"/>
              <a:t>2D</a:t>
            </a:r>
            <a:r>
              <a:rPr lang="zh-CN" altLang="en-US"/>
              <a:t>光斑中心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400"/>
              <a:t>因为</a:t>
            </a:r>
            <a:r>
              <a:rPr lang="en-US" altLang="zh-CN" sz="1400"/>
              <a:t>2D</a:t>
            </a:r>
            <a:r>
              <a:rPr lang="zh-CN" altLang="en-US" sz="1400"/>
              <a:t>光斑中心的精度会牵扯到跟踪物体的顶点的精度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实验过三种办法，每个办法前置代码</a:t>
            </a:r>
            <a:r>
              <a:rPr lang="en-US" altLang="zh-CN" sz="1400"/>
              <a:t>:</a:t>
            </a:r>
            <a:r>
              <a:rPr lang="zh-CN" altLang="en-US" sz="1400"/>
              <a:t>预先将灰度图进行二值化，灰度图不进行高斯模糊，也不进行腐蚀和膨胀消除光斑边缘噪点，因为会增大</a:t>
            </a:r>
            <a:r>
              <a:rPr lang="zh-CN" altLang="en-US" sz="1400"/>
              <a:t>误差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方法一：通过每个光斑区域的包围圆的中心作为光斑</a:t>
            </a:r>
            <a:r>
              <a:rPr lang="zh-CN" altLang="en-US" sz="1400"/>
              <a:t>中心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方法二：通过计算出光斑区域的轮廓，并求出该轮廓坐标的中心，作为光斑中心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方法三：将轮廓包围的像素的值，作为权重，算出光斑中心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最后，实现下来，方法三精度最高，</a:t>
            </a:r>
            <a:r>
              <a:rPr lang="zh-CN" altLang="en-US" sz="1400">
                <a:sym typeface="+mn-ea"/>
              </a:rPr>
              <a:t>因为光斑中心最亮，轮廓较暗，因此按照权重来计算光斑中心的值，精度最高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2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3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4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5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6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7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8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9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0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1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2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3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4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5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6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ags/tag17.xml><?xml version="1.0" encoding="utf-8"?>
<p:tagLst xmlns:p="http://schemas.openxmlformats.org/presentationml/2006/main">
  <p:tag name="KSO_WM_DIAGRAM_VIRTUALLY_FRAME" val="{&quot;height&quot;:271.75,&quot;left&quot;:115.2,&quot;top&quot;:154.75,&quot;width&quot;:751.3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2318</Words>
  <Application>WPS 演示</Application>
  <PresentationFormat>宽屏</PresentationFormat>
  <Paragraphs>130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医学AR导航项目</vt:lpstr>
      <vt:lpstr>预备操作</vt:lpstr>
      <vt:lpstr>粗配准</vt:lpstr>
      <vt:lpstr>精配准</vt:lpstr>
      <vt:lpstr>设置基座</vt:lpstr>
      <vt:lpstr>跟踪物体</vt:lpstr>
      <vt:lpstr>跟踪物体</vt:lpstr>
      <vt:lpstr>跟踪物体</vt:lpstr>
      <vt:lpstr>精度提升-2D图片杂光排除</vt:lpstr>
      <vt:lpstr>精度提升-2D图片杂光排除</vt:lpstr>
      <vt:lpstr>精度提升-2D图片杂光排除</vt:lpstr>
      <vt:lpstr>3D物体模板匹配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狮子197052</cp:lastModifiedBy>
  <cp:revision>156</cp:revision>
  <dcterms:created xsi:type="dcterms:W3CDTF">2023-08-09T12:44:00Z</dcterms:created>
  <dcterms:modified xsi:type="dcterms:W3CDTF">2026-09-07T14:37:29Z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5BBCC93A493749FCA7D5391C493F9224_12</vt:lpwstr>
  </property>
</Properties>
</file>